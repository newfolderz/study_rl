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ABF8B-D19D-0B95-D796-0A32E2100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E48EF-D986-B196-2F97-88A8D1974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5485E-3786-4E16-E8E6-C13CE5B60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3CB6-3082-46FA-9F68-F286D34ABCD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B72F6-4080-771C-9795-CE671A25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C809C-A837-BC78-43B3-75AB6227A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7926-E052-4F51-A71A-5C7EB09C9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39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6E43D-D7C6-BB61-55DA-2A7A8828A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BB63A-35A4-1EB4-7149-3C6820822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FF8A8-A3A7-C905-B9A4-5A08CAE4E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3CB6-3082-46FA-9F68-F286D34ABCD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0E251-11D7-86AE-23EB-1B24DF9F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F267B-DC47-45D2-A115-E4DF1775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7926-E052-4F51-A71A-5C7EB09C9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749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8A85-7AAD-647B-9E0F-A0ADD48A8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7A81B-AC15-F0F1-6975-824E78CA1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A1F4A-9E5C-00D0-F564-2D973E29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3CB6-3082-46FA-9F68-F286D34ABCD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E1650-065D-CC46-8DEB-93A89482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145EF-C701-F309-6907-E4074189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7926-E052-4F51-A71A-5C7EB09C9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49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06ED2-FB49-784A-E336-FA7CA8858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08DAF-566A-75EB-2CA7-746C07679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71A0C-EC17-1502-01A8-985E6FE40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A9832-E691-B4F7-4847-BAF5709F4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3CB6-3082-46FA-9F68-F286D34ABCD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3092F-3AA3-24EC-E08C-AA832772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418F8C-5FE8-62BD-F940-FA794C21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7926-E052-4F51-A71A-5C7EB09C9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29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9382-F98D-542F-5235-6E82F6FB1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80DB5-BE0B-D6E1-5CAD-6816AB81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87903-4A8F-AA1E-CE06-C3B037B0D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058EF5-E1D4-5EF5-DFED-BDDBED8C77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363DA-885D-5BD6-E5FC-9E8D8E8680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6A194-B5AD-3C74-8CAC-7F833766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3CB6-3082-46FA-9F68-F286D34ABCD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63539-6927-43E9-E839-0696C421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80A3AA-467A-65BC-A9AD-C107C34FA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7926-E052-4F51-A71A-5C7EB09C9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2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7FDB-2AC1-79EB-7147-07B2EEBDC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ECB31F-8783-AA07-D324-6E6645BE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3CB6-3082-46FA-9F68-F286D34ABCD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914C4-D814-6869-A046-69562F1CC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1D576-3A78-0620-1990-F62A5802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7926-E052-4F51-A71A-5C7EB09C9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23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52AEB-D0A3-AF6A-B7F0-682196AEA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3CB6-3082-46FA-9F68-F286D34ABCD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445BA2-1014-1D61-F115-ADD1A931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47F2F-D7A8-EDBC-740D-5C913FBB6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7926-E052-4F51-A71A-5C7EB09C9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55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589A-A57E-3873-3A9F-078153B19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690A3-401B-5E00-022B-5D7A3349B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664D6-6AF0-88D6-D373-E2ACCE7F8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C2623-4F14-F24A-FDBC-D3BFD3D2A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3CB6-3082-46FA-9F68-F286D34ABCD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FE6AF-50E2-5E86-4C5F-B973330F2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50682-D859-8B96-62D3-D694CBC98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7926-E052-4F51-A71A-5C7EB09C9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17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27D5-5284-DF5F-733F-2E616F3D6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E10FF2-037A-9AEB-B4EF-6160B05CE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F005EE-ECB1-AADB-BC1D-98C6518AC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87F19-2384-2276-193E-2416637D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3CB6-3082-46FA-9F68-F286D34ABCD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D9CD9-0B94-BFAA-645B-EFBA0AC5E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D1680-2788-6D22-6ACC-9092C9D8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7926-E052-4F51-A71A-5C7EB09C9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37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222AC-8ACD-93C4-FB06-F0A25B6DF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86D61-EFCD-3A12-AE95-5CA801666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A89D-B907-FE5B-CAD3-D029EBC6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3CB6-3082-46FA-9F68-F286D34ABCD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D1880-6C92-685F-A860-7292113CB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ABDD5-0D07-9A99-BDD8-788D3DDCA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7926-E052-4F51-A71A-5C7EB09C9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27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43A0AA-8645-EFED-6DA4-C015DB0B00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09AEF-E37D-D308-DE00-965C29BC8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DC636-9B2B-3F35-06F4-CA86F911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3CB6-3082-46FA-9F68-F286D34ABCD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5E635-3402-D0E2-6C10-4B905609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58CB8-A9E8-B44B-DBB0-7CCA3F6B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A7926-E052-4F51-A71A-5C7EB09C9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0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F1C75-6577-7E8E-3AA3-9EAAE36C6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C521D-9361-CB8D-6FEB-81287707B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787EF-B9CB-003A-A1EA-B5559B4116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C3CB6-3082-46FA-9F68-F286D34ABCD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8E9D9-EBA8-BE81-BD62-D6DF47CB3F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BBD8-2CA7-F603-B941-908ADEB3B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A7926-E052-4F51-A71A-5C7EB09C9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817C6-4822-09E5-5FBD-4CE51C4A6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558" y="244742"/>
            <a:ext cx="7015498" cy="1235225"/>
          </a:xfrm>
        </p:spPr>
        <p:txBody>
          <a:bodyPr anchor="ctr">
            <a:normAutofit/>
          </a:bodyPr>
          <a:lstStyle/>
          <a:p>
            <a:pPr algn="l"/>
            <a:r>
              <a:rPr lang="en-US" sz="3600" dirty="0"/>
              <a:t>Multi-armed bandits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F0A04-EE83-15A8-693D-DC824023C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5057" y="244741"/>
            <a:ext cx="4114801" cy="1235226"/>
          </a:xfrm>
        </p:spPr>
        <p:txBody>
          <a:bodyPr anchor="ctr">
            <a:normAutofit/>
          </a:bodyPr>
          <a:lstStyle/>
          <a:p>
            <a:pPr algn="r"/>
            <a:r>
              <a:rPr lang="en-US" sz="2000" dirty="0"/>
              <a:t>Phạm Thị Thu </a:t>
            </a:r>
            <a:r>
              <a:rPr lang="en-US" sz="2000" dirty="0" err="1"/>
              <a:t>Huế</a:t>
            </a:r>
            <a:r>
              <a:rPr lang="en-US" sz="2000" dirty="0"/>
              <a:t> - k69A5 HUS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C9C2CC-AD16-DC4C-2FEA-13FA99FA4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1801" y="2430617"/>
            <a:ext cx="10668003" cy="373380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732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7" name="Rectangle 2066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8B84C4-4BA3-81E6-5A4E-4229548CB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/>
              <a:t>Giới thiệu bài toán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3E17D-8D89-ED37-AE9A-B87D0EFB4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Giả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máy</a:t>
            </a:r>
            <a:r>
              <a:rPr lang="en-US" sz="2400" dirty="0"/>
              <a:t> </a:t>
            </a: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bạc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cánh</a:t>
            </a:r>
            <a:r>
              <a:rPr lang="en-US" sz="2400" dirty="0"/>
              <a:t> </a:t>
            </a:r>
            <a:r>
              <a:rPr lang="en-US" sz="2400" dirty="0" err="1"/>
              <a:t>tay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cạnh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kéo</a:t>
            </a:r>
            <a:r>
              <a:rPr lang="en-US" sz="2400" dirty="0"/>
              <a:t> </a:t>
            </a:r>
            <a:r>
              <a:rPr lang="en-US" sz="2400" dirty="0" err="1"/>
              <a:t>chạy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lần</a:t>
            </a:r>
            <a:r>
              <a:rPr lang="en-US" sz="2400" dirty="0"/>
              <a:t> </a:t>
            </a:r>
            <a:r>
              <a:rPr lang="en-US" sz="2400" dirty="0" err="1"/>
              <a:t>kéo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trả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thưởng</a:t>
            </a:r>
            <a:r>
              <a:rPr lang="en-US" sz="2400" dirty="0"/>
              <a:t> </a:t>
            </a:r>
            <a:r>
              <a:rPr lang="en-US" sz="2400" dirty="0" err="1"/>
              <a:t>ngẫu</a:t>
            </a:r>
            <a:r>
              <a:rPr lang="en-US" sz="2400" dirty="0"/>
              <a:t> </a:t>
            </a:r>
            <a:r>
              <a:rPr lang="en-US" sz="2400" dirty="0" err="1"/>
              <a:t>nhiên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phối</a:t>
            </a:r>
            <a:r>
              <a:rPr lang="en-US" sz="2400" dirty="0"/>
              <a:t>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suất</a:t>
            </a:r>
            <a:r>
              <a:rPr lang="en-US" sz="2400" dirty="0"/>
              <a:t> </a:t>
            </a:r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máy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khả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nhận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thưởng</a:t>
            </a:r>
            <a:r>
              <a:rPr lang="en-US" sz="2400" dirty="0"/>
              <a:t> </a:t>
            </a:r>
            <a:r>
              <a:rPr lang="en-US" sz="2400" dirty="0" err="1"/>
              <a:t>cao</a:t>
            </a:r>
            <a:r>
              <a:rPr lang="en-US" sz="2400" dirty="0"/>
              <a:t> </a:t>
            </a:r>
            <a:r>
              <a:rPr lang="en-US" sz="2400" dirty="0" err="1"/>
              <a:t>hơn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máy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(ta </a:t>
            </a:r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biết</a:t>
            </a:r>
            <a:r>
              <a:rPr lang="en-US" sz="2400" dirty="0"/>
              <a:t>). </a:t>
            </a:r>
          </a:p>
          <a:p>
            <a:pPr marL="0" indent="0">
              <a:buNone/>
            </a:pP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lần</a:t>
            </a:r>
            <a:r>
              <a:rPr lang="en-US" sz="2400" dirty="0"/>
              <a:t> </a:t>
            </a:r>
            <a:r>
              <a:rPr lang="en-US" sz="2400" dirty="0" err="1"/>
              <a:t>kéo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hữu</a:t>
            </a:r>
            <a:r>
              <a:rPr lang="en-US" sz="2400" dirty="0"/>
              <a:t> </a:t>
            </a:r>
            <a:r>
              <a:rPr lang="en-US" sz="2400" dirty="0" err="1"/>
              <a:t>hạn</a:t>
            </a:r>
            <a:r>
              <a:rPr lang="en-US" sz="2400" dirty="0"/>
              <a:t>, </a:t>
            </a:r>
            <a:r>
              <a:rPr lang="en-US" sz="2400" dirty="0" err="1"/>
              <a:t>hãy</a:t>
            </a:r>
            <a:r>
              <a:rPr lang="en-US" sz="2400" dirty="0"/>
              <a:t> </a:t>
            </a:r>
            <a:r>
              <a:rPr lang="en-US" sz="2400" dirty="0" err="1"/>
              <a:t>tối</a:t>
            </a:r>
            <a:r>
              <a:rPr lang="en-US" sz="2400" dirty="0"/>
              <a:t> </a:t>
            </a:r>
            <a:r>
              <a:rPr lang="en-US" sz="2400" dirty="0" err="1"/>
              <a:t>đa</a:t>
            </a:r>
            <a:r>
              <a:rPr lang="en-US" sz="2400" dirty="0"/>
              <a:t> </a:t>
            </a:r>
            <a:r>
              <a:rPr lang="en-US" sz="2400" dirty="0" err="1"/>
              <a:t>hóa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thưởng</a:t>
            </a:r>
            <a:r>
              <a:rPr lang="en-US" sz="2400" dirty="0"/>
              <a:t>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55D36E7-1649-9370-0C36-7914F5B5C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00" r="16059" b="-1"/>
          <a:stretch>
            <a:fillRect/>
          </a:stretch>
        </p:blipFill>
        <p:spPr bwMode="auto">
          <a:xfrm>
            <a:off x="7199440" y="10"/>
            <a:ext cx="4992560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969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ACAAFD-B5B5-A3FD-2295-DBC1FE1E8B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58952"/>
                <a:ext cx="10515600" cy="54180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Ràng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buộc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- </a:t>
                </a:r>
                <a:r>
                  <a:rPr lang="vi-V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Tập hành động: bộ chỉ số </a:t>
                </a:r>
                <a14:m>
                  <m:oMath xmlns:m="http://schemas.openxmlformats.org/officeDocument/2006/math">
                    <m:r>
                      <a:rPr lang="vi-VN" sz="2000" i="1" dirty="0" smtClean="0">
                        <a:latin typeface="+mj-lt"/>
                      </a:rPr>
                      <m:t>𝒜</m:t>
                    </m:r>
                    <m:r>
                      <a:rPr lang="vi-VN" sz="2000" i="1" dirty="0" smtClean="0">
                        <a:latin typeface="+mj-lt"/>
                      </a:rPr>
                      <m:t>=1,2,…,</m:t>
                    </m:r>
                    <m:r>
                      <a:rPr lang="vi-VN" sz="2000" i="1" dirty="0" smtClean="0">
                        <a:latin typeface="+mj-lt"/>
                      </a:rPr>
                      <m:t>𝑁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đại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diện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vi-V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cho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+mj-lt"/>
                      </a:rPr>
                      <m:t>N</m:t>
                    </m:r>
                  </m:oMath>
                </a14:m>
                <a:r>
                  <a:rPr lang="vi-V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cánh tay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hữu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hạn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vi-VN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>
                  <a:buFontTx/>
                  <a:buChar char="-"/>
                </a:pP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Số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lần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kéo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+mj-lt"/>
                      </a:rPr>
                      <m:t>T</m:t>
                    </m:r>
                    <m:r>
                      <a:rPr lang="en-US" sz="2000" b="0" i="1" smtClean="0">
                        <a:latin typeface="+mj-lt"/>
                      </a:rPr>
                      <m:t> </m:t>
                    </m:r>
                  </m:oMath>
                </a14:m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lần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hữu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hạn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>
                  <a:buFontTx/>
                  <a:buChar char="-"/>
                </a:pPr>
                <a:r>
                  <a:rPr lang="vi-V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Phần thưởng: tại mỗi bước thời gian </a:t>
                </a:r>
                <a14:m>
                  <m:oMath xmlns:m="http://schemas.openxmlformats.org/officeDocument/2006/math">
                    <m:r>
                      <a:rPr lang="vi-VN" sz="2000" i="1" dirty="0" smtClean="0">
                        <a:latin typeface="+mj-lt"/>
                      </a:rPr>
                      <m:t>𝑡</m:t>
                    </m:r>
                  </m:oMath>
                </a14:m>
                <a:r>
                  <a:rPr lang="vi-V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nếu chọn máy </a:t>
                </a:r>
                <a14:m>
                  <m:oMath xmlns:m="http://schemas.openxmlformats.org/officeDocument/2006/math">
                    <m:r>
                      <a:rPr lang="vi-VN" sz="2000" i="1" dirty="0" smtClean="0">
                        <a:latin typeface="+mj-lt"/>
                      </a:rPr>
                      <m:t>𝑖</m:t>
                    </m:r>
                    <m:r>
                      <a:rPr lang="vi-VN" sz="2000" i="1" dirty="0" smtClean="0">
                        <a:latin typeface="+mj-lt"/>
                      </a:rPr>
                      <m:t> </m:t>
                    </m:r>
                  </m:oMath>
                </a14:m>
                <a:r>
                  <a:rPr lang="vi-V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nhận được phần thưởng </a:t>
                </a:r>
                <a14:m>
                  <m:oMath xmlns:m="http://schemas.openxmlformats.org/officeDocument/2006/math">
                    <m:r>
                      <a:rPr lang="vi-VN" sz="2000" i="1" dirty="0" smtClean="0">
                        <a:latin typeface="+mj-lt"/>
                      </a:rPr>
                      <m:t>𝑟</m:t>
                    </m:r>
                    <m:r>
                      <a:rPr lang="vi-VN" sz="2000" i="1" dirty="0" smtClean="0">
                        <a:latin typeface="+mj-lt"/>
                      </a:rPr>
                      <m:t>(</m:t>
                    </m:r>
                    <m:r>
                      <a:rPr lang="vi-VN" sz="2000" i="1" dirty="0" smtClean="0">
                        <a:latin typeface="+mj-lt"/>
                      </a:rPr>
                      <m:t>𝑡</m:t>
                    </m:r>
                    <m:r>
                      <a:rPr lang="vi-VN" sz="2000" i="1" dirty="0" smtClean="0">
                        <a:latin typeface="+mj-lt"/>
                      </a:rPr>
                      <m:t>) </m:t>
                    </m:r>
                  </m:oMath>
                </a14:m>
                <a:r>
                  <a:rPr lang="vi-V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rút ra từ phân phối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+mj-lt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+mj-lt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+mj-lt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vi-V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có kỳ vọng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000" i="1" dirty="0" smtClean="0">
                            <a:latin typeface="+mj-lt"/>
                          </a:rPr>
                        </m:ctrlPr>
                      </m:sSubPr>
                      <m:e>
                        <m:r>
                          <a:rPr lang="vi-VN" sz="2000" i="1" dirty="0" smtClean="0">
                            <a:latin typeface="+mj-lt"/>
                          </a:rPr>
                          <m:t>𝜇</m:t>
                        </m:r>
                      </m:e>
                      <m:sub>
                        <m:r>
                          <a:rPr lang="vi-VN" sz="2000" i="1" dirty="0" smtClean="0">
                            <a:latin typeface="+mj-lt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chưa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biết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vào</a:t>
                </a:r>
                <a:endParaRPr lang="en-US" dirty="0"/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𝑎𝑟𝑚𝑠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</a:t>
                </a:r>
                <a:r>
                  <a:rPr lang="en-US" sz="2000" dirty="0" err="1"/>
                  <a:t>số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cánh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tay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của</a:t>
                </a:r>
                <a:r>
                  <a:rPr lang="en-US" sz="2000" dirty="0"/>
                  <a:t> robot 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: </a:t>
                </a:r>
                <a:r>
                  <a:rPr lang="en-US" sz="2000" dirty="0" err="1"/>
                  <a:t>số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lần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kéo</a:t>
                </a: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𝑜𝑡𝑎𝑙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𝑟𝑒𝑤𝑎𝑟𝑑</m:t>
                    </m:r>
                  </m:oMath>
                </a14:m>
                <a:r>
                  <a:rPr lang="en-US" sz="2000" dirty="0"/>
                  <a:t>: </a:t>
                </a:r>
                <a:r>
                  <a:rPr lang="en-US" sz="2000" dirty="0" err="1"/>
                  <a:t>một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số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thực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là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tổng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phần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thưởng</a:t>
                </a:r>
                <a:r>
                  <a:rPr lang="en-US" sz="2000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ACAAFD-B5B5-A3FD-2295-DBC1FE1E8B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58952"/>
                <a:ext cx="10515600" cy="5418011"/>
              </a:xfrm>
              <a:blipFill>
                <a:blip r:embed="rId2"/>
                <a:stretch>
                  <a:fillRect l="-1217" t="-2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6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425D438-7595-DE0B-2916-DC3793D72FF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𝑔𝑟𝑒𝑒𝑑𝑦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425D438-7595-DE0B-2916-DC3793D72F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3C830-D019-36BA-64E6-3BF1B8F58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 </a:t>
            </a:r>
            <a:r>
              <a:rPr lang="vi-VN" b="1" dirty="0"/>
              <a:t>Ý tưởng</a:t>
            </a:r>
            <a:r>
              <a:rPr lang="vi-VN" dirty="0"/>
              <a:t>: </a:t>
            </a:r>
            <a:endParaRPr lang="en-US" dirty="0"/>
          </a:p>
          <a:p>
            <a:pPr marL="0" indent="0">
              <a:buNone/>
            </a:pPr>
            <a:r>
              <a:rPr lang="en-US" sz="2400" dirty="0" err="1"/>
              <a:t>Động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vi-VN" sz="2400" dirty="0"/>
              <a:t>phân phối của phần thưởng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biết</a:t>
            </a:r>
            <a:r>
              <a:rPr lang="vi-VN" sz="2400" dirty="0"/>
              <a:t>, nên dễ nhất là chọn cánh tay hiện tại đang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ước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vi-VN" sz="2400" dirty="0"/>
              <a:t> kỳ vọng phần thưởng cao nhất. </a:t>
            </a:r>
            <a:endParaRPr lang="en-US" sz="2400" dirty="0"/>
          </a:p>
          <a:p>
            <a:pPr marL="0" indent="0">
              <a:buNone/>
            </a:pPr>
            <a:r>
              <a:rPr lang="vi-VN" sz="2400" dirty="0"/>
              <a:t>Tuy nhiên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vi-VN" sz="2400" dirty="0"/>
              <a:t>một vấn đề: ban đầu mẫu nhỏ, ước lượng cho kỳ vọng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vi-VN" sz="2400" dirty="0"/>
              <a:t> chưa chính xác. 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Do </a:t>
            </a:r>
            <a:r>
              <a:rPr lang="en-US" sz="2400" dirty="0" err="1"/>
              <a:t>đó</a:t>
            </a:r>
            <a:r>
              <a:rPr lang="vi-VN" sz="2400" dirty="0"/>
              <a:t>, không thể lúc nào cũng chọn </a:t>
            </a:r>
            <a:r>
              <a:rPr lang="en-US" sz="2400" dirty="0" err="1"/>
              <a:t>cánh</a:t>
            </a:r>
            <a:r>
              <a:rPr lang="en-US" sz="2400" dirty="0"/>
              <a:t> </a:t>
            </a:r>
            <a:r>
              <a:rPr lang="en-US" sz="2400" dirty="0" err="1"/>
              <a:t>tay</a:t>
            </a:r>
            <a:r>
              <a:rPr lang="vi-VN" sz="2400" dirty="0"/>
              <a:t> có kỳ vọng cao nhất mà với một xác suất nhỏ, ta có thể đi khám phá các hành động tiếp theo. </a:t>
            </a:r>
          </a:p>
        </p:txBody>
      </p:sp>
    </p:spTree>
    <p:extLst>
      <p:ext uri="{BB962C8B-B14F-4D97-AF65-F5344CB8AC3E}">
        <p14:creationId xmlns:p14="http://schemas.microsoft.com/office/powerpoint/2010/main" val="4285961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4E6E3-D7F7-B77A-C632-544035EB7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8D42D1C-3230-E241-9105-D50C27612DA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:r>
                  <a:rPr lang="en-US" dirty="0"/>
                  <a:t>Triển khai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𝑔𝑟𝑒𝑒𝑑𝑦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8D42D1C-3230-E241-9105-D50C27612D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F9456-5F33-5FD1-1AB1-6780567213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02023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Xây </a:t>
                </a:r>
                <a:r>
                  <a:rPr lang="en-US" b="1" dirty="0" err="1"/>
                  <a:t>dựng</a:t>
                </a:r>
                <a:r>
                  <a:rPr lang="en-US" b="1" dirty="0"/>
                  <a:t> Agent: </a:t>
                </a:r>
                <a:endParaRPr lang="en-US" dirty="0"/>
              </a:p>
              <a:p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dựng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/>
                      <m:t>__</m:t>
                    </m:r>
                    <m:r>
                      <a:rPr lang="en-US" i="1" dirty="0" err="1" smtClean="0"/>
                      <m:t>𝑖𝑛𝑖𝑡</m:t>
                    </m:r>
                    <m:r>
                      <a:rPr lang="en-US" i="1" dirty="0" smtClean="0"/>
                      <m:t>__(</m:t>
                    </m:r>
                    <m:r>
                      <a:rPr lang="en-US" i="1" dirty="0" err="1"/>
                      <m:t>𝑛</m:t>
                    </m:r>
                    <m:r>
                      <a:rPr lang="en-US" i="1" dirty="0" err="1"/>
                      <m:t>_</m:t>
                    </m:r>
                    <m:r>
                      <a:rPr lang="en-US" i="1" dirty="0" err="1"/>
                      <m:t>𝑎𝑟𝑚𝑠</m:t>
                    </m:r>
                    <m:r>
                      <a:rPr lang="en-US" i="1" dirty="0"/>
                      <m:t>, </m:t>
                    </m:r>
                    <m:r>
                      <a:rPr lang="en-US" i="1" dirty="0" smtClean="0"/>
                      <m:t>𝑒𝑝𝑠𝑖𝑙𝑜𝑛</m:t>
                    </m:r>
                    <m:r>
                      <a:rPr lang="en-US" i="1" dirty="0" smtClean="0"/>
                      <m:t>)</m:t>
                    </m:r>
                  </m:oMath>
                </a14:m>
                <a:r>
                  <a:rPr lang="en-US" dirty="0"/>
                  <a:t>:	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/>
                      <m:t>𝑛</m:t>
                    </m:r>
                    <m:r>
                      <a:rPr lang="en-US" i="1" dirty="0" err="1"/>
                      <m:t>_</m:t>
                    </m:r>
                    <m:r>
                      <a:rPr lang="en-US" i="1" dirty="0" err="1"/>
                      <m:t>𝑎𝑟𝑚𝑠</m:t>
                    </m:r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cánh</a:t>
                </a:r>
                <a:r>
                  <a:rPr lang="en-US" dirty="0"/>
                  <a:t> </a:t>
                </a:r>
                <a:r>
                  <a:rPr lang="en-US" dirty="0" err="1"/>
                  <a:t>tay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chọn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/>
                      <m:t>𝑒𝑝𝑠𝑖𝑙𝑜𝑛</m:t>
                    </m:r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xác</a:t>
                </a:r>
                <a:r>
                  <a:rPr lang="en-US" dirty="0"/>
                  <a:t> </a:t>
                </a:r>
                <a:r>
                  <a:rPr lang="en-US" dirty="0" err="1"/>
                  <a:t>suất</a:t>
                </a:r>
                <a:r>
                  <a:rPr lang="en-US" dirty="0"/>
                  <a:t> </a:t>
                </a:r>
                <a:r>
                  <a:rPr lang="en-US" dirty="0" err="1"/>
                  <a:t>chọn</a:t>
                </a:r>
                <a:r>
                  <a:rPr lang="en-US" dirty="0"/>
                  <a:t> </a:t>
                </a:r>
                <a:r>
                  <a:rPr lang="en-US" dirty="0" err="1"/>
                  <a:t>hành</a:t>
                </a:r>
                <a:r>
                  <a:rPr lang="en-US" dirty="0"/>
                  <a:t> </a:t>
                </a:r>
                <a:r>
                  <a:rPr lang="en-US" dirty="0" err="1"/>
                  <a:t>động</a:t>
                </a:r>
                <a:r>
                  <a:rPr lang="en-US" dirty="0"/>
                  <a:t> </a:t>
                </a:r>
                <a:r>
                  <a:rPr lang="en-US" dirty="0" err="1"/>
                  <a:t>khám</a:t>
                </a:r>
                <a:r>
                  <a:rPr lang="en-US" dirty="0"/>
                  <a:t> </a:t>
                </a:r>
                <a:r>
                  <a:rPr lang="en-US" dirty="0" err="1"/>
                  <a:t>phá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/>
                      <m:t>𝑐𝑜𝑢𝑛𝑡𝑠</m:t>
                    </m:r>
                    <m:r>
                      <a:rPr lang="en-US" i="1" dirty="0"/>
                      <m:t>([])</m:t>
                    </m:r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mảng</a:t>
                </a:r>
                <a:r>
                  <a:rPr lang="en-US" dirty="0"/>
                  <a:t> </a:t>
                </a:r>
                <a:r>
                  <a:rPr lang="en-US" dirty="0" err="1"/>
                  <a:t>đếm</a:t>
                </a:r>
                <a:r>
                  <a:rPr lang="en-US" dirty="0"/>
                  <a:t>,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tiện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values (</a:t>
                </a:r>
                <a:r>
                  <a:rPr lang="en-US" dirty="0" err="1"/>
                  <a:t>mặc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= 0)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/>
                      <m:t>𝑣𝑎𝑙𝑢𝑒𝑠</m:t>
                    </m:r>
                    <m:r>
                      <a:rPr lang="en-US" i="1" dirty="0"/>
                      <m:t>([])</m:t>
                    </m:r>
                  </m:oMath>
                </a14:m>
                <a:r>
                  <a:rPr lang="en-US" dirty="0"/>
                  <a:t>: </a:t>
                </a:r>
                <a:r>
                  <a:rPr lang="en-US" dirty="0" err="1"/>
                  <a:t>ước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phần</a:t>
                </a:r>
                <a:r>
                  <a:rPr lang="en-US" dirty="0"/>
                  <a:t> </a:t>
                </a:r>
                <a:r>
                  <a:rPr lang="en-US" dirty="0" err="1"/>
                  <a:t>thưởng</a:t>
                </a:r>
                <a:r>
                  <a:rPr lang="en-US" dirty="0"/>
                  <a:t> </a:t>
                </a:r>
                <a:r>
                  <a:rPr lang="en-US" dirty="0" err="1"/>
                  <a:t>từng</a:t>
                </a:r>
                <a:r>
                  <a:rPr lang="en-US" dirty="0"/>
                  <a:t> </a:t>
                </a:r>
                <a:r>
                  <a:rPr lang="en-US" dirty="0" err="1"/>
                  <a:t>cánh</a:t>
                </a:r>
                <a:r>
                  <a:rPr lang="en-US" dirty="0"/>
                  <a:t> </a:t>
                </a:r>
                <a:r>
                  <a:rPr lang="en-US" dirty="0" err="1"/>
                  <a:t>tay</a:t>
                </a:r>
                <a:r>
                  <a:rPr lang="en-US" dirty="0"/>
                  <a:t> </a:t>
                </a:r>
                <a:r>
                  <a:rPr lang="en-US" dirty="0" err="1"/>
                  <a:t>tại</a:t>
                </a:r>
                <a:r>
                  <a:rPr lang="en-US" dirty="0"/>
                  <a:t>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đang</a:t>
                </a:r>
                <a:r>
                  <a:rPr lang="en-US" dirty="0"/>
                  <a:t> </a:t>
                </a:r>
                <a:r>
                  <a:rPr lang="en-US" dirty="0" err="1"/>
                  <a:t>xét</a:t>
                </a:r>
                <a:r>
                  <a:rPr lang="en-US" dirty="0"/>
                  <a:t> (</a:t>
                </a:r>
                <a:r>
                  <a:rPr lang="en-US" dirty="0" err="1"/>
                  <a:t>mặc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0)</a:t>
                </a:r>
              </a:p>
              <a:p>
                <a:r>
                  <a:rPr lang="en-US" dirty="0">
                    <a:latin typeface="Aptos" panose="020B0004020202020204" pitchFamily="34" charset="0"/>
                  </a:rPr>
                  <a:t>L</a:t>
                </a:r>
                <a:r>
                  <a:rPr lang="vi-VN" dirty="0">
                    <a:latin typeface="Aptos" panose="020B0004020202020204" pitchFamily="34" charset="0"/>
                  </a:rPr>
                  <a:t>ựa chọn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𝑠𝑒𝑙𝑒𝑐𝑡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𝑎𝑟𝑚</m:t>
                    </m:r>
                  </m:oMath>
                </a14:m>
                <a:r>
                  <a:rPr lang="vi-VN" dirty="0">
                    <a:latin typeface="Aptos" panose="020B0004020202020204" pitchFamily="34" charset="0"/>
                  </a:rPr>
                  <a:t>: </a:t>
                </a:r>
              </a:p>
              <a:p>
                <a:pPr lvl="1"/>
                <a:r>
                  <a:rPr lang="vi-VN" dirty="0">
                    <a:latin typeface="Aptos" panose="020B0004020202020204" pitchFamily="34" charset="0"/>
                  </a:rPr>
                  <a:t>Chọn một số thực từ phân phối đều trên khoảng mở [0,1):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𝑟𝑎𝑛𝑑𝑜𝑚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𝑟𝑎𝑛𝑑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vi-VN" dirty="0">
                  <a:latin typeface="Aptos" panose="020B0004020202020204" pitchFamily="34" charset="0"/>
                </a:endParaRPr>
              </a:p>
              <a:p>
                <a:pPr lvl="1"/>
                <a:r>
                  <a:rPr lang="vi-VN" dirty="0">
                    <a:latin typeface="Aptos" panose="020B0004020202020204" pitchFamily="34" charset="0"/>
                  </a:rPr>
                  <a:t>Nếu số vừa chọn nhỏ hơn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vi-VN" dirty="0">
                    <a:latin typeface="Aptos" panose="020B0004020202020204" pitchFamily="34" charset="0"/>
                  </a:rPr>
                  <a:t>, trả về ngẫu nhiên một trong số các cánh tay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𝑟𝑎𝑛𝑑𝑜𝑚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𝑟𝑎𝑛𝑑𝑖𝑛𝑡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(0, 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𝑠𝑒𝑙𝑓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𝑎𝑟𝑚𝑠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 dirty="0">
                  <a:latin typeface="Aptos" panose="020B0004020202020204" pitchFamily="34" charset="0"/>
                </a:endParaRPr>
              </a:p>
              <a:p>
                <a:pPr lvl="1"/>
                <a:r>
                  <a:rPr lang="vi-VN" dirty="0">
                    <a:latin typeface="Aptos" panose="020B0004020202020204" pitchFamily="34" charset="0"/>
                  </a:rPr>
                  <a:t>Ngược lại, trả về hành động có kỳ vọng cao nhất: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𝑎𝑟𝑔𝑚𝑎𝑥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𝑠𝑒𝑙𝑓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i="1" dirty="0">
                        <a:latin typeface="Cambria Math" panose="02040503050406030204" pitchFamily="18" charset="0"/>
                      </a:rPr>
                      <m:t>𝑣𝑎𝑙𝑢𝑒𝑠</m:t>
                    </m:r>
                    <m:r>
                      <a:rPr lang="vi-V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 dirty="0">
                  <a:latin typeface="Aptos" panose="020B0004020202020204" pitchFamily="34" charset="0"/>
                </a:endParaRPr>
              </a:p>
              <a:p>
                <a:r>
                  <a:rPr lang="en-US" dirty="0" err="1">
                    <a:latin typeface="Aptos" panose="020B0004020202020204" pitchFamily="34" charset="0"/>
                  </a:rPr>
                  <a:t>Hàm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dirty="0" err="1">
                    <a:latin typeface="Aptos" panose="020B0004020202020204" pitchFamily="34" charset="0"/>
                  </a:rPr>
                  <a:t>cập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dirty="0" err="1">
                    <a:latin typeface="Aptos" panose="020B0004020202020204" pitchFamily="34" charset="0"/>
                  </a:rPr>
                  <a:t>nhật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𝑢𝑝𝑑𝑎𝑡𝑒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𝑠𝑒𝑙𝑓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𝑐h𝑜𝑠𝑒𝑛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𝑎𝑟𝑚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𝑟𝑒𝑤𝑎𝑟𝑑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: </a:t>
                </a:r>
              </a:p>
              <a:p>
                <a:pPr lvl="1"/>
                <a:r>
                  <a:rPr lang="en-US" dirty="0" err="1">
                    <a:latin typeface="Aptos" panose="020B0004020202020204" pitchFamily="34" charset="0"/>
                  </a:rPr>
                  <a:t>Cập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dirty="0" err="1">
                    <a:latin typeface="Aptos" panose="020B0004020202020204" pitchFamily="34" charset="0"/>
                  </a:rPr>
                  <a:t>nhật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dirty="0" err="1">
                    <a:latin typeface="Aptos" panose="020B0004020202020204" pitchFamily="34" charset="0"/>
                  </a:rPr>
                  <a:t>số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dirty="0" err="1">
                    <a:latin typeface="Aptos" panose="020B0004020202020204" pitchFamily="34" charset="0"/>
                  </a:rPr>
                  <a:t>đếm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dirty="0" err="1">
                    <a:latin typeface="Aptos" panose="020B0004020202020204" pitchFamily="34" charset="0"/>
                  </a:rPr>
                  <a:t>của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dirty="0" err="1">
                    <a:latin typeface="Aptos" panose="020B0004020202020204" pitchFamily="34" charset="0"/>
                  </a:rPr>
                  <a:t>cánh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dirty="0" err="1">
                    <a:latin typeface="Aptos" panose="020B0004020202020204" pitchFamily="34" charset="0"/>
                  </a:rPr>
                  <a:t>tay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dirty="0" err="1">
                    <a:latin typeface="Aptos" panose="020B0004020202020204" pitchFamily="34" charset="0"/>
                  </a:rPr>
                  <a:t>đã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dirty="0" err="1">
                    <a:latin typeface="Aptos" panose="020B0004020202020204" pitchFamily="34" charset="0"/>
                  </a:rPr>
                  <a:t>chọn</a:t>
                </a:r>
                <a:r>
                  <a:rPr lang="en-US" dirty="0">
                    <a:latin typeface="Aptos" panose="020B00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𝑠𝑒𝑙𝑓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𝑐𝑜𝑢𝑛𝑡𝑠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𝑐h𝑜𝑠𝑒𝑛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𝑎𝑟𝑚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+=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latin typeface="Aptos" panose="020B0004020202020204" pitchFamily="34" charset="0"/>
                </a:endParaRPr>
              </a:p>
              <a:p>
                <a:pPr lvl="1"/>
                <a:r>
                  <a:rPr lang="en-US" dirty="0" err="1">
                    <a:latin typeface="Aptos" panose="020B0004020202020204" pitchFamily="34" charset="0"/>
                  </a:rPr>
                  <a:t>Tính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dirty="0" err="1">
                    <a:latin typeface="Aptos" panose="020B0004020202020204" pitchFamily="34" charset="0"/>
                  </a:rPr>
                  <a:t>lại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dirty="0" err="1">
                    <a:latin typeface="Aptos" panose="020B0004020202020204" pitchFamily="34" charset="0"/>
                  </a:rPr>
                  <a:t>kỳ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dirty="0" err="1">
                    <a:latin typeface="Aptos" panose="020B0004020202020204" pitchFamily="34" charset="0"/>
                  </a:rPr>
                  <a:t>vọng</a:t>
                </a:r>
                <a:r>
                  <a:rPr lang="en-US" dirty="0">
                    <a:latin typeface="Aptos" panose="020B00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𝑣𝑎𝑙𝑢𝑒𝑠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= 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−1)/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𝑣𝑎𝑙𝑢𝑒𝑠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−1] + 1/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𝑟𝑒𝑤𝑎𝑟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FF9456-5F33-5FD1-1AB1-6780567213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02023"/>
              </a:xfrm>
              <a:blipFill>
                <a:blip r:embed="rId3"/>
                <a:stretch>
                  <a:fillRect l="-928" t="-2977" b="-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477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CED1B-40C7-564F-1AA1-A729F9A1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207E1CE-B32A-2BD6-9B14-944D80AD1F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Triển khai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𝑔𝑟𝑒𝑒𝑑𝑦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207E1CE-B32A-2BD6-9B14-944D80AD1F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9C3939-F54B-EAAC-A0A1-25C8C01657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 err="1"/>
                  <a:t>Thiết</a:t>
                </a:r>
                <a:r>
                  <a:rPr lang="en-US" b="1" dirty="0"/>
                  <a:t> </a:t>
                </a:r>
                <a:r>
                  <a:rPr lang="en-US" b="1" dirty="0" err="1"/>
                  <a:t>lập</a:t>
                </a:r>
                <a:r>
                  <a:rPr lang="en-US" b="1" dirty="0"/>
                  <a:t> </a:t>
                </a:r>
                <a:r>
                  <a:rPr lang="en-US" b="1" dirty="0" err="1"/>
                  <a:t>phân</a:t>
                </a:r>
                <a:r>
                  <a:rPr lang="en-US" b="1" dirty="0"/>
                  <a:t> </a:t>
                </a:r>
                <a:r>
                  <a:rPr lang="en-US" b="1" dirty="0" err="1"/>
                  <a:t>phối</a:t>
                </a:r>
                <a:r>
                  <a:rPr lang="en-US" b="1" dirty="0"/>
                  <a:t> </a:t>
                </a:r>
                <a:r>
                  <a:rPr lang="en-US" b="1" dirty="0" err="1"/>
                  <a:t>phần</a:t>
                </a:r>
                <a:r>
                  <a:rPr lang="en-US" b="1" dirty="0"/>
                  <a:t> </a:t>
                </a:r>
                <a:r>
                  <a:rPr lang="en-US" b="1" dirty="0" err="1"/>
                  <a:t>thưởng</a:t>
                </a:r>
                <a:r>
                  <a:rPr lang="en-US" b="1" dirty="0"/>
                  <a:t> </a:t>
                </a:r>
                <a:r>
                  <a:rPr lang="en-US" dirty="0"/>
                  <a:t>(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biết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agent) </a:t>
                </a:r>
              </a:p>
              <a:p>
                <a:pPr marL="0" indent="0">
                  <a:buNone/>
                </a:pPr>
                <a:r>
                  <a:rPr lang="en-US" dirty="0"/>
                  <a:t> - </a:t>
                </a:r>
                <a:r>
                  <a:rPr lang="en-US" dirty="0" err="1"/>
                  <a:t>Kỳ</a:t>
                </a:r>
                <a:r>
                  <a:rPr lang="en-US" dirty="0"/>
                  <a:t> </a:t>
                </a:r>
                <a:r>
                  <a:rPr lang="en-US" dirty="0" err="1"/>
                  <a:t>vọng</a:t>
                </a:r>
                <a:r>
                  <a:rPr lang="en-US" dirty="0"/>
                  <a:t> </a:t>
                </a:r>
                <a:r>
                  <a:rPr lang="en-US" dirty="0" err="1"/>
                  <a:t>thực</a:t>
                </a:r>
                <a:r>
                  <a:rPr lang="en-US" dirty="0"/>
                  <a:t> </a:t>
                </a:r>
                <a:r>
                  <a:rPr lang="en-US" dirty="0" err="1"/>
                  <a:t>tế</a:t>
                </a:r>
                <a:r>
                  <a:rPr lang="en-US" dirty="0"/>
                  <a:t>: random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numpy</a:t>
                </a:r>
                <a:r>
                  <a:rPr lang="en-US" dirty="0"/>
                  <a:t>: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𝑚𝑒𝑎𝑛𝑠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𝑟𝑎𝑛𝑑𝑜𝑚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𝑟𝑎𝑛𝑑𝑛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𝑎𝑟𝑚𝑠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9C3939-F54B-EAAC-A0A1-25C8C01657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80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C9AA1-9ED1-EE4B-B16F-A7C23C9F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40D2A-12A5-5518-7102-DB7A21AF4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Khoảng tin cậy cho ta biết độ tin cậy giá trị hành động thực tế của hành động A nằm ở đâu trong vùng này</a:t>
            </a:r>
          </a:p>
          <a:p>
            <a:r>
              <a:rPr lang="vi-VN" dirty="0"/>
              <a:t>Nếu vùng này nhỏ: chắc chắc giá trị của A gần với ước tính </a:t>
            </a:r>
          </a:p>
          <a:p>
            <a:r>
              <a:rPr lang="vi-VN" dirty="0"/>
              <a:t>Ngược lại, không hcawcs chắn giá trị hành động A gần với ước tính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56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602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Multi-armed bandits </vt:lpstr>
      <vt:lpstr>Giới thiệu bài toán </vt:lpstr>
      <vt:lpstr>PowerPoint Presentation</vt:lpstr>
      <vt:lpstr>ϵ-greedy</vt:lpstr>
      <vt:lpstr>Triển khai ϵ-greedy</vt:lpstr>
      <vt:lpstr>Triển khai ϵ-greedy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Hue Pham</dc:creator>
  <cp:lastModifiedBy>Hue Pham</cp:lastModifiedBy>
  <cp:revision>2</cp:revision>
  <dcterms:created xsi:type="dcterms:W3CDTF">2026-02-24T15:59:05Z</dcterms:created>
  <dcterms:modified xsi:type="dcterms:W3CDTF">2026-02-25T01:34:29Z</dcterms:modified>
</cp:coreProperties>
</file>